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8" r:id="rId13"/>
    <p:sldId id="269" r:id="rId14"/>
    <p:sldId id="270" r:id="rId15"/>
    <p:sldId id="271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FBAF-DEFB-28B4-A3A2-4AA522B2A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F95AB-8ED2-0019-BB7A-58BEB5538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6366D-2713-9A24-C562-2A71AA38A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610F-1030-5DD3-7F2E-BCCBF3D1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B9C7-4EC3-C198-E3FB-B1BBC5DC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214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6AF9-1D77-FAF7-4004-E65E81A4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B238A-C313-18D9-B448-C8C87EEEB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DA436-FE7F-34DB-AA81-E3A1A782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E54FF-232C-EA74-55F7-00554F28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E21D-0D7C-56CF-969E-A130BE14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49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1571-45F4-C2DD-DD23-4077D0FB7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22775-5577-B0A2-594B-52F3BAB73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28EE7-7323-2680-71B7-94A5E3BD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4C29-5E98-FE21-D633-F47E1355C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1C8DC-5F16-4495-98F7-C465CC72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6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E23F-F04D-0B99-8202-844D336F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C7C9C-815A-0E28-9117-751046B04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466A7-B780-520E-4E57-BA6DD8AF9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591BB-6876-7A14-17A8-FE4091D44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2A870-983D-98F8-2211-80026161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0A5A2-85E8-55A5-26AF-D16AEFE5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92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2E1C-73A8-9368-5B8C-CE39D325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C6EC-1F61-12FA-0BB8-61DFFB14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5C0CB-3ED4-095B-AC6C-2EF5830E1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D64E4-DFAD-7F4B-8FEF-5F108BD3A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70AD2-C868-B31D-2C8B-91EB2B208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E27B8-4953-831A-0814-8CE102CF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B60B35-D8AD-CFD4-A111-A4C068A6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E38D5-D689-83BE-8CD5-61EAA376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6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94D5-57C1-4DCA-93C0-AB5F3BA7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2FF3F-1FB3-F1D7-A7A0-5DE4FF1F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D818B-D519-4B67-0E7B-25578625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900C7-F956-15CA-901E-F0A19ED8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2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F8E49-F4F5-6BE8-6383-43669421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026B8-F587-8780-37E0-26DB62B5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C8FE4-213E-00E8-2DED-E112E81B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76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77DB-4851-684C-2C46-6B5EDD8D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B80FA-7D00-7989-88F6-5208AB7B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40AA6-17B5-5CDE-A1E7-FCBAE3300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BD468-EA52-CB2A-2735-7E7DD20D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0ECA4-5027-E3EB-06DC-C44D90CD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7ECA2-4F58-2B5B-93C5-1F677397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61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4CD7-9B2D-4600-CAFE-8ED8BB0A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BE3B7-0639-7B26-465B-A5392E213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5FCBD-DFE1-1E68-D963-45469656E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37616-DD75-D433-3714-7B8DE467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6C986-B304-9BD9-454D-E823CFBC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5FDF6-C02D-E81B-2054-574E70C6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04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06FA-707B-6B83-95C5-862724DC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BE61B-1EE4-EB88-7B03-27132A6B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A99E1-90CE-65AE-E678-4784D19A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AC77F-A353-6DAD-66CB-E7418860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52D47-BAC0-4007-1643-F959D71C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15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9C091C-854E-0BD0-6A82-AB5A937F5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7340B-0D3A-EBAC-9A57-34067D6EC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0F403-F8A3-295C-7BA3-69429822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1ECBC-5867-AB2B-7AA9-C7082A8E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AE58E-6D70-0754-A82A-7A546349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87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8435F-4A4B-76FE-EED9-F09329BE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0C698-4F80-2387-EF78-478D11506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9DA0C-2AB1-E3C1-2EB0-CF1769C8F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86B84-DDC6-4CA9-82CD-78A9607ACA6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B034-741B-74B3-3260-34FE366EC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EAC2-CD37-CD11-5083-768413EB0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B7337-A133-49E9-8807-C87CCB0BF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486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1903-3E9B-2077-C949-6479F65B5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290" y="2005781"/>
            <a:ext cx="11366090" cy="2378433"/>
          </a:xfrm>
        </p:spPr>
        <p:txBody>
          <a:bodyPr>
            <a:normAutofit fontScale="90000"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Retail Sales </a:t>
            </a:r>
            <a:b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&amp; </a:t>
            </a:r>
            <a:b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Inventory Intelligence System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2D78E-1B7A-2D48-8661-4637294C5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2219" y="4837472"/>
            <a:ext cx="3097161" cy="422786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- Rohith Malleboena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59934572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E093-1700-9B3C-9750-D1012C99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1670"/>
            <a:ext cx="10515600" cy="943001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lgerian" panose="04020705040A02060702" pitchFamily="82" charset="0"/>
              </a:rPr>
              <a:t>Project Objective </a:t>
            </a:r>
            <a:endParaRPr lang="en-IN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EDF3A-5880-9BE0-465A-CB7B23259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431"/>
            <a:ext cx="10813025" cy="943001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comprehensive data analysis solution for a retail company that the company’s management seeks to extract insights that can: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06DD6D7-3214-D730-C83A-6F0EB60AE867}"/>
              </a:ext>
            </a:extLst>
          </p:cNvPr>
          <p:cNvSpPr/>
          <p:nvPr/>
        </p:nvSpPr>
        <p:spPr>
          <a:xfrm>
            <a:off x="1543644" y="4468762"/>
            <a:ext cx="3608439" cy="560438"/>
          </a:xfrm>
          <a:prstGeom prst="round2Diag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- Identify top-selling products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A2C05AD7-DD04-440A-5AA1-820219D3252B}"/>
              </a:ext>
            </a:extLst>
          </p:cNvPr>
          <p:cNvSpPr/>
          <p:nvPr/>
        </p:nvSpPr>
        <p:spPr>
          <a:xfrm>
            <a:off x="7039923" y="3537156"/>
            <a:ext cx="4041032" cy="560438"/>
          </a:xfrm>
          <a:prstGeom prst="round2Diag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- Understand customer preferences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EDD36BE3-1D4A-2665-FC4E-8360008715FF}"/>
              </a:ext>
            </a:extLst>
          </p:cNvPr>
          <p:cNvSpPr/>
          <p:nvPr/>
        </p:nvSpPr>
        <p:spPr>
          <a:xfrm>
            <a:off x="7039919" y="4468762"/>
            <a:ext cx="3608439" cy="560438"/>
          </a:xfrm>
          <a:prstGeom prst="round2Diag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- Optimize inventory 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F55FC36E-8FE7-B86A-5899-C4B3BA94731F}"/>
              </a:ext>
            </a:extLst>
          </p:cNvPr>
          <p:cNvSpPr/>
          <p:nvPr/>
        </p:nvSpPr>
        <p:spPr>
          <a:xfrm>
            <a:off x="1543641" y="5400368"/>
            <a:ext cx="3608439" cy="560438"/>
          </a:xfrm>
          <a:prstGeom prst="round2Diag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- Monitor staff performance.</a:t>
            </a:r>
            <a:endParaRPr lang="en-IN" sz="2000" b="1" dirty="0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380A258-9D16-C153-9A2B-075B3CC7F9EC}"/>
              </a:ext>
            </a:extLst>
          </p:cNvPr>
          <p:cNvSpPr/>
          <p:nvPr/>
        </p:nvSpPr>
        <p:spPr>
          <a:xfrm>
            <a:off x="1543641" y="3540845"/>
            <a:ext cx="3608439" cy="556749"/>
          </a:xfrm>
          <a:prstGeom prst="round2Diag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- Improve sales strategies</a:t>
            </a:r>
          </a:p>
        </p:txBody>
      </p:sp>
    </p:spTree>
    <p:extLst>
      <p:ext uri="{BB962C8B-B14F-4D97-AF65-F5344CB8AC3E}">
        <p14:creationId xmlns:p14="http://schemas.microsoft.com/office/powerpoint/2010/main" val="1685634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094C-F8B4-AEAD-1366-5ADF02F8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lgerian" panose="04020705040A02060702" pitchFamily="82" charset="0"/>
              </a:rPr>
              <a:t>Project Flow</a:t>
            </a:r>
            <a:endParaRPr lang="en-IN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426F6-A951-0AB9-22D9-5BC3F00F00DE}"/>
              </a:ext>
            </a:extLst>
          </p:cNvPr>
          <p:cNvSpPr txBox="1"/>
          <p:nvPr/>
        </p:nvSpPr>
        <p:spPr>
          <a:xfrm>
            <a:off x="1973825" y="3193247"/>
            <a:ext cx="8244350" cy="73574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n>
                  <a:solidFill>
                    <a:srgbClr val="92D050"/>
                  </a:solidFill>
                </a:ln>
                <a:solidFill>
                  <a:sysClr val="windowText" lastClr="000000"/>
                </a:solidFill>
              </a:rPr>
              <a:t>Phase 2: SQL – Database Management and Querying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DD6EC-A288-24F0-181F-9373AEF17B8C}"/>
              </a:ext>
            </a:extLst>
          </p:cNvPr>
          <p:cNvSpPr txBox="1"/>
          <p:nvPr/>
        </p:nvSpPr>
        <p:spPr>
          <a:xfrm>
            <a:off x="3200399" y="1912818"/>
            <a:ext cx="5791200" cy="73574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n>
                  <a:solidFill>
                    <a:srgbClr val="92D050"/>
                  </a:solidFill>
                </a:ln>
                <a:solidFill>
                  <a:sysClr val="windowText" lastClr="000000"/>
                </a:solidFill>
              </a:rPr>
              <a:t>Phase 1: Excel – Data 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87DD94-15B5-62C3-5587-F5DAD9A118D7}"/>
              </a:ext>
            </a:extLst>
          </p:cNvPr>
          <p:cNvSpPr txBox="1"/>
          <p:nvPr/>
        </p:nvSpPr>
        <p:spPr>
          <a:xfrm>
            <a:off x="2765322" y="4473676"/>
            <a:ext cx="6661355" cy="73574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n>
                  <a:solidFill>
                    <a:srgbClr val="92D050"/>
                  </a:solidFill>
                </a:ln>
                <a:solidFill>
                  <a:sysClr val="windowText" lastClr="000000"/>
                </a:solidFill>
              </a:rPr>
              <a:t>Phase 3: Power BI – Dashboard Creation</a:t>
            </a:r>
            <a:endParaRPr lang="en-IN" sz="2800" dirty="0">
              <a:ln>
                <a:solidFill>
                  <a:srgbClr val="92D05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F169031-45B5-17EB-4380-97DE647AA1AC}"/>
              </a:ext>
            </a:extLst>
          </p:cNvPr>
          <p:cNvSpPr/>
          <p:nvPr/>
        </p:nvSpPr>
        <p:spPr>
          <a:xfrm>
            <a:off x="5948515" y="2648565"/>
            <a:ext cx="245807" cy="54468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2E9EE49-868F-8826-2E8B-8491BE70F257}"/>
              </a:ext>
            </a:extLst>
          </p:cNvPr>
          <p:cNvSpPr/>
          <p:nvPr/>
        </p:nvSpPr>
        <p:spPr>
          <a:xfrm>
            <a:off x="5948515" y="3928994"/>
            <a:ext cx="245807" cy="54468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2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1E47-D034-C23B-A055-0CBB44C5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132556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  <a:latin typeface="Algerian" panose="04020705040A02060702" pitchFamily="82" charset="0"/>
              </a:rPr>
              <a:t>1: Excel –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3E1B1-9D00-22C5-B910-5A72B66E7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88664"/>
            <a:ext cx="10515600" cy="2840652"/>
          </a:xfrm>
        </p:spPr>
        <p:txBody>
          <a:bodyPr>
            <a:normAutofit/>
          </a:bodyPr>
          <a:lstStyle/>
          <a:p>
            <a:r>
              <a:rPr lang="en-IN" sz="4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Loaded raw data into Excel. </a:t>
            </a:r>
          </a:p>
          <a:p>
            <a:r>
              <a:rPr lang="en-IN" sz="4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Cleaned up inconsistencies.</a:t>
            </a:r>
          </a:p>
          <a:p>
            <a:r>
              <a:rPr lang="en-IN" sz="4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Normalized specific fields.</a:t>
            </a:r>
          </a:p>
          <a:p>
            <a:r>
              <a:rPr lang="en-IN" sz="4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Saved clean datasets for import into SQL.</a:t>
            </a:r>
          </a:p>
        </p:txBody>
      </p:sp>
    </p:spTree>
    <p:extLst>
      <p:ext uri="{BB962C8B-B14F-4D97-AF65-F5344CB8AC3E}">
        <p14:creationId xmlns:p14="http://schemas.microsoft.com/office/powerpoint/2010/main" val="435540503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05353A-125B-A036-CAF0-5F29A29DA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17" y="967537"/>
            <a:ext cx="9802761" cy="2323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9D97DA-E4F0-FFBB-C9E3-19AD8C0DB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18" y="4113860"/>
            <a:ext cx="9802761" cy="2471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4C1C6D-EC0F-DC15-2F42-945BEB578CF1}"/>
              </a:ext>
            </a:extLst>
          </p:cNvPr>
          <p:cNvSpPr txBox="1"/>
          <p:nvPr/>
        </p:nvSpPr>
        <p:spPr>
          <a:xfrm>
            <a:off x="1194617" y="325226"/>
            <a:ext cx="3731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Raw Data: Customers Table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C5C34-8967-1F16-90A0-E5D67222B32D}"/>
              </a:ext>
            </a:extLst>
          </p:cNvPr>
          <p:cNvSpPr txBox="1"/>
          <p:nvPr/>
        </p:nvSpPr>
        <p:spPr>
          <a:xfrm>
            <a:off x="1194617" y="3517940"/>
            <a:ext cx="3731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Prepared Data : Customers Table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30400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0A4AC9-B3C8-115A-C203-152DC2C8EE2D}"/>
              </a:ext>
            </a:extLst>
          </p:cNvPr>
          <p:cNvSpPr txBox="1"/>
          <p:nvPr/>
        </p:nvSpPr>
        <p:spPr>
          <a:xfrm>
            <a:off x="1194617" y="325226"/>
            <a:ext cx="3731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Raw Data: Order Items Table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EDFFA-C194-E870-686C-9AB96C40F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18" y="969805"/>
            <a:ext cx="5343834" cy="2276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22B85D-A1C9-DBFA-0F3B-80618052B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17" y="4151110"/>
            <a:ext cx="10259964" cy="2257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DD9C58-96F5-34AC-D970-3D6D6C8B1176}"/>
              </a:ext>
            </a:extLst>
          </p:cNvPr>
          <p:cNvSpPr txBox="1"/>
          <p:nvPr/>
        </p:nvSpPr>
        <p:spPr>
          <a:xfrm>
            <a:off x="1194617" y="3514188"/>
            <a:ext cx="3731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Prepared Data : Order Items Table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053042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DCDD48-A148-61CF-F15B-9A58498959E0}"/>
              </a:ext>
            </a:extLst>
          </p:cNvPr>
          <p:cNvSpPr txBox="1"/>
          <p:nvPr/>
        </p:nvSpPr>
        <p:spPr>
          <a:xfrm>
            <a:off x="1061884" y="1002890"/>
            <a:ext cx="3106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RAW DATASETS</a:t>
            </a:r>
            <a:endParaRPr lang="en-IN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41928-BA8A-BF6F-725B-4E8CA25AB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84" y="1861265"/>
            <a:ext cx="2654710" cy="3705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3357FE-D2E5-CF68-596C-1209417D3738}"/>
              </a:ext>
            </a:extLst>
          </p:cNvPr>
          <p:cNvSpPr txBox="1"/>
          <p:nvPr/>
        </p:nvSpPr>
        <p:spPr>
          <a:xfrm>
            <a:off x="6371305" y="1002890"/>
            <a:ext cx="3303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PREPARED DATASETS</a:t>
            </a:r>
            <a:endParaRPr lang="en-IN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55277F-1005-0543-1AA0-6EB70ED04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304" y="1760800"/>
            <a:ext cx="2949676" cy="380620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D099552-7E24-D47F-88DE-8A248A67BE21}"/>
              </a:ext>
            </a:extLst>
          </p:cNvPr>
          <p:cNvSpPr/>
          <p:nvPr/>
        </p:nvSpPr>
        <p:spPr>
          <a:xfrm>
            <a:off x="3716594" y="3452526"/>
            <a:ext cx="2654710" cy="52322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CLEANING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33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9B62-32B8-0E26-BE00-5910BBA3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3E81-AA09-B014-8C12-DA5A95E1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123174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2: SQL – Database Management Querying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CDDD3-EA0F-C5B8-9ECF-4893AB0BB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70" y="2134471"/>
            <a:ext cx="10515600" cy="3391258"/>
          </a:xfrm>
        </p:spPr>
        <p:txBody>
          <a:bodyPr>
            <a:normAutofit fontScale="92500" lnSpcReduction="20000"/>
          </a:bodyPr>
          <a:lstStyle/>
          <a:p>
            <a:r>
              <a:rPr lang="en-IN" sz="3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Created the database.</a:t>
            </a:r>
          </a:p>
          <a:p>
            <a:endParaRPr lang="en-IN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3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Imported prepared datasets into MySQL.</a:t>
            </a:r>
          </a:p>
          <a:p>
            <a:endParaRPr lang="en-IN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3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relations between by using ER Diagram</a:t>
            </a:r>
          </a:p>
          <a:p>
            <a:endParaRPr lang="en-IN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3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Created Multiple Views.</a:t>
            </a:r>
          </a:p>
          <a:p>
            <a:endParaRPr lang="en-IN" sz="32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7928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D50479-7268-2580-5B6A-A45A8B8D6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10" y="1592826"/>
            <a:ext cx="10683779" cy="4945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3CCF48-4210-8E0A-11E2-1946AF05CD08}"/>
              </a:ext>
            </a:extLst>
          </p:cNvPr>
          <p:cNvSpPr txBox="1"/>
          <p:nvPr/>
        </p:nvSpPr>
        <p:spPr>
          <a:xfrm>
            <a:off x="754110" y="609600"/>
            <a:ext cx="6302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Structure of Tables and ER Diagram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683672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2E0FF9-A36A-D1AB-FF5B-30E8E90C7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02"/>
          <a:stretch>
            <a:fillRect/>
          </a:stretch>
        </p:blipFill>
        <p:spPr>
          <a:xfrm>
            <a:off x="456247" y="1691148"/>
            <a:ext cx="8090668" cy="1737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F6F4F2-6A14-357F-463F-DD58AFE92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58"/>
          <a:stretch>
            <a:fillRect/>
          </a:stretch>
        </p:blipFill>
        <p:spPr>
          <a:xfrm>
            <a:off x="456247" y="4434348"/>
            <a:ext cx="7997711" cy="19921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16A82B-D197-43E9-505A-6C3AB5B7D7BB}"/>
              </a:ext>
            </a:extLst>
          </p:cNvPr>
          <p:cNvSpPr txBox="1"/>
          <p:nvPr/>
        </p:nvSpPr>
        <p:spPr>
          <a:xfrm>
            <a:off x="456247" y="1077550"/>
            <a:ext cx="66269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retail_sales.customer_orders_and_order_frequency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1A9342-61FB-6252-C498-B281D5D2D959}"/>
              </a:ext>
            </a:extLst>
          </p:cNvPr>
          <p:cNvSpPr txBox="1"/>
          <p:nvPr/>
        </p:nvSpPr>
        <p:spPr>
          <a:xfrm>
            <a:off x="456247" y="3874832"/>
            <a:ext cx="68786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retail_sales.product_wise_sales_and_inventory_trends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6DA1B-4829-736D-2A50-F5598BAFEE82}"/>
              </a:ext>
            </a:extLst>
          </p:cNvPr>
          <p:cNvSpPr txBox="1"/>
          <p:nvPr/>
        </p:nvSpPr>
        <p:spPr>
          <a:xfrm>
            <a:off x="456247" y="313266"/>
            <a:ext cx="744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Created Multiple Views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5074324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2CE76B-C2CC-89BE-6AB1-738B4A2DE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98"/>
          <a:stretch>
            <a:fillRect/>
          </a:stretch>
        </p:blipFill>
        <p:spPr>
          <a:xfrm>
            <a:off x="437539" y="1120690"/>
            <a:ext cx="6366385" cy="14545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47A30-2CB6-B5EC-7C92-034CCD262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8"/>
          <a:stretch>
            <a:fillRect/>
          </a:stretch>
        </p:blipFill>
        <p:spPr>
          <a:xfrm>
            <a:off x="437539" y="3667432"/>
            <a:ext cx="7483514" cy="28071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E8F333-C9EE-7FFE-F3AA-31EB77223625}"/>
              </a:ext>
            </a:extLst>
          </p:cNvPr>
          <p:cNvSpPr txBox="1"/>
          <p:nvPr/>
        </p:nvSpPr>
        <p:spPr>
          <a:xfrm>
            <a:off x="456247" y="556439"/>
            <a:ext cx="56397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retail_sales.store_region_sales_analysis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6AD73-75DE-FED9-D4C2-0F29FFBC49E6}"/>
              </a:ext>
            </a:extLst>
          </p:cNvPr>
          <p:cNvSpPr txBox="1"/>
          <p:nvPr/>
        </p:nvSpPr>
        <p:spPr>
          <a:xfrm>
            <a:off x="456247" y="3004857"/>
            <a:ext cx="56397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retail_sales.staff_performance_reports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1749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48A49-5649-3814-907F-DFBF72DE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3: POWER BI – DASBOARD CREATION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2F252-CE07-4FE4-B5FA-33B7D4AB9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Connected Power BI to SQL Database</a:t>
            </a:r>
          </a:p>
          <a:p>
            <a:r>
              <a:rPr lang="en-US" dirty="0"/>
              <a:t>Built reports for </a:t>
            </a:r>
          </a:p>
          <a:p>
            <a:pPr lvl="1"/>
            <a:r>
              <a:rPr lang="en-US" dirty="0"/>
              <a:t>Staff and Store wise Sales Analysis.</a:t>
            </a:r>
          </a:p>
          <a:p>
            <a:pPr lvl="1"/>
            <a:r>
              <a:rPr lang="en-US" dirty="0"/>
              <a:t>Customers Orders &amp; Order Frequency.</a:t>
            </a:r>
          </a:p>
          <a:p>
            <a:pPr lvl="1"/>
            <a:r>
              <a:rPr lang="en-US" dirty="0"/>
              <a:t>Product Sales and Inventory Trends.</a:t>
            </a:r>
          </a:p>
          <a:p>
            <a:r>
              <a:rPr lang="en-US" dirty="0"/>
              <a:t>Findings, Insights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56638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F8D947-2DF2-AF19-E1C6-C4B13B04A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"/>
          <a:stretch>
            <a:fillRect/>
          </a:stretch>
        </p:blipFill>
        <p:spPr>
          <a:xfrm>
            <a:off x="206479" y="321853"/>
            <a:ext cx="11705301" cy="3962399"/>
          </a:xfrm>
          <a:prstGeom prst="rect">
            <a:avLst/>
          </a:prstGeom>
          <a:ln>
            <a:noFill/>
          </a:ln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638488AA-7D2C-8BDD-5AAB-8C90BB01C36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0220" y="4812597"/>
            <a:ext cx="11631560" cy="17235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Findings And Insights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Baldwin Bikes (New York) leads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₹5.22M (≈68%) of total revenue, followed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Santa Cruz Bikes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(₹1.61M)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Rowlett Bikes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(₹0.87M).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staff members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 sales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contribution, indicating performance disparity.</a:t>
            </a:r>
          </a:p>
        </p:txBody>
      </p:sp>
    </p:spTree>
    <p:extLst>
      <p:ext uri="{BB962C8B-B14F-4D97-AF65-F5344CB8AC3E}">
        <p14:creationId xmlns:p14="http://schemas.microsoft.com/office/powerpoint/2010/main" val="4265163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46D9DC-6F9F-AD08-9980-1C367694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294369"/>
            <a:ext cx="11661056" cy="4307127"/>
          </a:xfrm>
          <a:prstGeom prst="rect">
            <a:avLst/>
          </a:prstGeom>
          <a:ln>
            <a:noFill/>
          </a:ln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D0A19869-6FB8-BDC6-20D7-BB0A9B487E4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3961" y="4840082"/>
            <a:ext cx="11661056" cy="17235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Findings And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91% of customers (1,314)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made only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purchase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repeat order behavior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100 customers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₹1.86M revenue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that a small fraction of customers contribute a significant portion of total sales.</a:t>
            </a:r>
          </a:p>
        </p:txBody>
      </p:sp>
    </p:spTree>
    <p:extLst>
      <p:ext uri="{BB962C8B-B14F-4D97-AF65-F5344CB8AC3E}">
        <p14:creationId xmlns:p14="http://schemas.microsoft.com/office/powerpoint/2010/main" val="2135893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B61F75-2F59-1A11-54B0-37B34FF63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403122"/>
            <a:ext cx="11818374" cy="3746091"/>
          </a:xfrm>
          <a:prstGeom prst="rect">
            <a:avLst/>
          </a:prstGeom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E59BF3B-E768-098A-D341-226E472BB0C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6813" y="4563086"/>
            <a:ext cx="11818374" cy="2062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Findings &amp; Insights: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Electra brand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leads product share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36.87%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Trek (26%)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Surly (12.84%)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products remain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unsold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valued at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₹4.41L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demand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20 products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₹3.96M (over 50% of revenue)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emphasizing dependence on a few bestsellers.</a:t>
            </a:r>
          </a:p>
        </p:txBody>
      </p:sp>
    </p:spTree>
    <p:extLst>
      <p:ext uri="{BB962C8B-B14F-4D97-AF65-F5344CB8AC3E}">
        <p14:creationId xmlns:p14="http://schemas.microsoft.com/office/powerpoint/2010/main" val="746066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6EB9CF-5D15-C0E4-36CA-BD5B46EE1EEA}"/>
              </a:ext>
            </a:extLst>
          </p:cNvPr>
          <p:cNvSpPr txBox="1"/>
          <p:nvPr/>
        </p:nvSpPr>
        <p:spPr>
          <a:xfrm>
            <a:off x="368710" y="756998"/>
            <a:ext cx="11454579" cy="38779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50000"/>
                  </a:schemeClr>
                </a:solidFill>
              </a:rPr>
              <a:t>Recommendations:</a:t>
            </a:r>
          </a:p>
          <a:p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Introduce </a:t>
            </a:r>
            <a:r>
              <a:rPr lang="en-US" b="1" dirty="0"/>
              <a:t>staff performance incentives and training</a:t>
            </a:r>
            <a:r>
              <a:rPr lang="en-US" dirty="0"/>
              <a:t> programs to balance sales.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Strengthen sales and marketing</a:t>
            </a:r>
            <a:r>
              <a:rPr lang="en-US" dirty="0"/>
              <a:t> strategies California and Texas to improve store-level revenue share.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loyalty or reward programs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repeat purchase rates.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Focus on </a:t>
            </a:r>
            <a:r>
              <a:rPr lang="en-US" b="1" dirty="0"/>
              <a:t>retention initiatives in New York</a:t>
            </a:r>
            <a:r>
              <a:rPr lang="en-US" dirty="0"/>
              <a:t> and </a:t>
            </a:r>
            <a:r>
              <a:rPr lang="en-US" b="1" dirty="0"/>
              <a:t>acquisition in California and Texas</a:t>
            </a:r>
            <a:r>
              <a:rPr lang="en-US" dirty="0"/>
              <a:t> to balance customer distribution.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and display efforts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unsold or slow-moving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discounts or bundles.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promoting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products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exploring similar models or variations.</a:t>
            </a:r>
          </a:p>
        </p:txBody>
      </p:sp>
    </p:spTree>
    <p:extLst>
      <p:ext uri="{BB962C8B-B14F-4D97-AF65-F5344CB8AC3E}">
        <p14:creationId xmlns:p14="http://schemas.microsoft.com/office/powerpoint/2010/main" val="31976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8C85-6D64-BACE-4E6C-293D40A6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132" y="2619515"/>
            <a:ext cx="3671735" cy="809485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00B050"/>
                </a:solidFill>
                <a:latin typeface="Algerian" panose="04020705040A02060702" pitchFamily="82" charset="0"/>
              </a:rPr>
              <a:t>THANK YOU</a:t>
            </a:r>
            <a:endParaRPr lang="en-IN" sz="5400" dirty="0">
              <a:solidFill>
                <a:srgbClr val="00B05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70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238</TotalTime>
  <Words>513</Words>
  <Application>Microsoft Office PowerPoint</Application>
  <PresentationFormat>Widescreen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Office Theme</vt:lpstr>
      <vt:lpstr>Retail Sales  &amp;  Inventory Intelligence System</vt:lpstr>
      <vt:lpstr>Project Objective </vt:lpstr>
      <vt:lpstr>Project Flow</vt:lpstr>
      <vt:lpstr>1: Excel – Data Preprocessing</vt:lpstr>
      <vt:lpstr>PowerPoint Presentation</vt:lpstr>
      <vt:lpstr>PowerPoint Presentation</vt:lpstr>
      <vt:lpstr>PowerPoint Presentation</vt:lpstr>
      <vt:lpstr>2: SQL – Database Management Querying </vt:lpstr>
      <vt:lpstr>PowerPoint Presentation</vt:lpstr>
      <vt:lpstr>PowerPoint Presentation</vt:lpstr>
      <vt:lpstr>PowerPoint Presentation</vt:lpstr>
      <vt:lpstr>3: POWER BI – DASBOARD CREATION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Rohith Malleboena</dc:creator>
  <cp:lastModifiedBy>Rohith Malleboena</cp:lastModifiedBy>
  <cp:revision>7</cp:revision>
  <dcterms:created xsi:type="dcterms:W3CDTF">2025-10-30T04:59:24Z</dcterms:created>
  <dcterms:modified xsi:type="dcterms:W3CDTF">2025-10-30T08:57:33Z</dcterms:modified>
</cp:coreProperties>
</file>